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9" r:id="rId4"/>
    <p:sldId id="257" r:id="rId5"/>
    <p:sldId id="258" r:id="rId6"/>
    <p:sldId id="266" r:id="rId7"/>
    <p:sldId id="269" r:id="rId8"/>
    <p:sldId id="270" r:id="rId9"/>
    <p:sldId id="260" r:id="rId10"/>
    <p:sldId id="261" r:id="rId11"/>
    <p:sldId id="262" r:id="rId12"/>
    <p:sldId id="273" r:id="rId13"/>
    <p:sldId id="267" r:id="rId14"/>
    <p:sldId id="271" r:id="rId15"/>
    <p:sldId id="264" r:id="rId16"/>
    <p:sldId id="263" r:id="rId17"/>
    <p:sldId id="272" r:id="rId18"/>
    <p:sldId id="265" r:id="rId1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16552" y="1719072"/>
            <a:ext cx="3355848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1A3C6E"/>
                </a:solidFill>
                <a:latin typeface="Times New Roman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2185416"/>
            <a:ext cx="1218895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atin typeface="Times New Roman"/>
              </a:rPr>
              <a:t>QUEUE BASED HOSPITAL APPOINTMENT BOOKING AND PATIENT SCHEDULING MANAGEMENT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527048" y="381304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002060"/>
                </a:solidFill>
                <a:latin typeface="Times New Roman"/>
              </a:rPr>
              <a:t>CSA0315</a:t>
            </a:r>
            <a:r>
              <a:rPr sz="18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IN" sz="1800" b="1" dirty="0">
                <a:solidFill>
                  <a:srgbClr val="002060"/>
                </a:solidFill>
                <a:latin typeface="Times New Roman"/>
              </a:rPr>
              <a:t>–</a:t>
            </a:r>
            <a:r>
              <a:rPr sz="1800" b="1" dirty="0">
                <a:solidFill>
                  <a:srgbClr val="002060"/>
                </a:solidFill>
                <a:latin typeface="Times New Roman"/>
              </a:rPr>
              <a:t> </a:t>
            </a:r>
            <a:r>
              <a:rPr lang="en-IN" b="1" dirty="0">
                <a:solidFill>
                  <a:srgbClr val="002060"/>
                </a:solidFill>
                <a:latin typeface="Times New Roman"/>
              </a:rPr>
              <a:t>DATA STRUCTURES</a:t>
            </a:r>
            <a:endParaRPr sz="1800" b="1" dirty="0">
              <a:solidFill>
                <a:srgbClr val="002060"/>
              </a:solidFill>
              <a:latin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5111496"/>
            <a:ext cx="4114800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2060"/>
                </a:solidFill>
                <a:latin typeface="Times New Roman"/>
              </a:rPr>
              <a:t>UNDER THE SUPERVISION OF:</a:t>
            </a:r>
          </a:p>
          <a:p>
            <a:r>
              <a:rPr lang="en-IN" dirty="0">
                <a:solidFill>
                  <a:srgbClr val="2B2B2B"/>
                </a:solidFill>
                <a:latin typeface="Times New Roman"/>
              </a:rPr>
              <a:t>DR. T. RAJESH KUMAR</a:t>
            </a:r>
          </a:p>
          <a:p>
            <a:endParaRPr sz="1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583680" y="5121328"/>
            <a:ext cx="523951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dirty="0">
                <a:solidFill>
                  <a:srgbClr val="002060"/>
                </a:solidFill>
                <a:latin typeface="Times New Roman"/>
              </a:rPr>
              <a:t>PRESENTED BY:</a:t>
            </a:r>
          </a:p>
          <a:p>
            <a:r>
              <a:rPr lang="en-IN" sz="1400" dirty="0" err="1">
                <a:solidFill>
                  <a:srgbClr val="2B2B2B"/>
                </a:solidFill>
                <a:latin typeface="Times New Roman"/>
              </a:rPr>
              <a:t>Moniga</a:t>
            </a:r>
            <a:r>
              <a:rPr lang="en-IN" sz="1400" dirty="0">
                <a:solidFill>
                  <a:srgbClr val="2B2B2B"/>
                </a:solidFill>
                <a:latin typeface="Times New Roman"/>
              </a:rPr>
              <a:t> V (192521184)</a:t>
            </a:r>
          </a:p>
          <a:p>
            <a:r>
              <a:rPr lang="en-IN" sz="1400" dirty="0">
                <a:solidFill>
                  <a:srgbClr val="2B2B2B"/>
                </a:solidFill>
                <a:latin typeface="Times New Roman"/>
              </a:rPr>
              <a:t>Dhivyabharathi (192521233)</a:t>
            </a:r>
          </a:p>
          <a:p>
            <a:r>
              <a:rPr lang="en-IN" sz="1400" dirty="0" err="1">
                <a:solidFill>
                  <a:srgbClr val="2B2B2B"/>
                </a:solidFill>
                <a:latin typeface="Times New Roman"/>
              </a:rPr>
              <a:t>Sugiritha</a:t>
            </a:r>
            <a:r>
              <a:rPr lang="en-IN" sz="1400" dirty="0">
                <a:solidFill>
                  <a:srgbClr val="2B2B2B"/>
                </a:solidFill>
                <a:latin typeface="Times New Roman"/>
              </a:rPr>
              <a:t> M (192471020)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48DA6-06CE-015C-FCA7-820ED2A799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7973" y="2334031"/>
            <a:ext cx="9709355" cy="3742304"/>
          </a:xfrm>
        </p:spPr>
        <p:txBody>
          <a:bodyPr>
            <a:normAutofit fontScale="55000" lnSpcReduction="20000"/>
          </a:bodyPr>
          <a:lstStyle/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manages hospital appointments using a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data structure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follows the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can register their details and book appointments.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added to the waiting queue according to their arrival order.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 doctors are assigned to patients systematically.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statuses such as </a:t>
            </a:r>
            <a:r>
              <a:rPr lang="en-IN" sz="3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Waiting, Assigned, Completed, and Cancelled</a:t>
            </a: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maintained.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 and appointment confusion. </a:t>
            </a:r>
          </a:p>
          <a:p>
            <a:pPr lvl="0" algn="just">
              <a:lnSpc>
                <a:spcPct val="170000"/>
              </a:lnSpc>
            </a:pPr>
            <a:r>
              <a:rPr lang="en-IN" sz="3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improves the overall flow and organization of patients in the hospital.</a:t>
            </a:r>
          </a:p>
          <a:p>
            <a:endParaRPr lang="en-IN" dirty="0"/>
          </a:p>
        </p:txBody>
      </p:sp>
      <p:pic>
        <p:nvPicPr>
          <p:cNvPr id="6" name="Picture 5" descr="slide1_img0.png">
            <a:extLst>
              <a:ext uri="{FF2B5EF4-FFF2-40B4-BE49-F238E27FC236}">
                <a16:creationId xmlns:a16="http://schemas.microsoft.com/office/drawing/2014/main" id="{8FA87238-97DC-30CA-CF42-DC1BCDCE9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237" y="220892"/>
            <a:ext cx="9354312" cy="1014984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696F1815-5C6D-2E54-98C6-59533434DE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236" y="1327820"/>
            <a:ext cx="8698551" cy="736954"/>
          </a:xfrm>
        </p:spPr>
        <p:txBody>
          <a:bodyPr>
            <a:normAutofit fontScale="90000"/>
          </a:bodyPr>
          <a:lstStyle/>
          <a:p>
            <a:r>
              <a:rPr lang="en-IN" dirty="0"/>
              <a:t>ABSTRACT</a:t>
            </a:r>
          </a:p>
        </p:txBody>
      </p:sp>
    </p:spTree>
    <p:extLst>
      <p:ext uri="{BB962C8B-B14F-4D97-AF65-F5344CB8AC3E}">
        <p14:creationId xmlns:p14="http://schemas.microsoft.com/office/powerpoint/2010/main" val="13192780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OBJECTIVE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" y="2194560"/>
            <a:ext cx="11484864" cy="46346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15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 efficient system for registering patients and managing appointment information.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the FIFO Queue principle for scheduling patients according to their arrival order. </a:t>
            </a:r>
            <a:endParaRPr sz="24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organized mechanism for assigning waiting patients to available doctors.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maintain appointment statuses such as Waiting, Assigned, Completed, and Cancelled </a:t>
            </a:r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generate useful appointment information and basic statistics for hospital management.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613965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6130" y="2354335"/>
            <a:ext cx="10987548" cy="40498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sz="24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Hospital Appointment Booking System is designed to manage patient appointments in an organized and efficient manner using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data structure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allows patients to register their details, book appointments, and enter a waiting queue based on their order of arrival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assigned to available doctors systematically, ensuring that patients are served according to their position in the queue.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manual work, minimizes appointment confusion, and improves the overall flow of patients within the hospital.</a:t>
            </a:r>
            <a:endParaRPr lang="en-US"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 can be applied to a real-world healthcare management problem.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US" sz="2400" dirty="0">
              <a:solidFill>
                <a:srgbClr val="2B2B2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37744" y="1417320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>
                <a:solidFill>
                  <a:srgbClr val="1A3C6E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290" y="2194560"/>
            <a:ext cx="11313040" cy="39497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200"/>
              </a:spcBef>
              <a:spcAft>
                <a:spcPts val="500"/>
              </a:spcAft>
              <a:buSzPct val="116000"/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 large number of patients manually can result in long waiting times, scheduling conflicts, and difficulty maintaining appointment order.</a:t>
            </a:r>
          </a:p>
          <a:p>
            <a:pPr>
              <a:spcBef>
                <a:spcPts val="200"/>
              </a:spcBef>
              <a:spcAft>
                <a:spcPts val="500"/>
              </a:spcAft>
              <a:buSzPct val="116000"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staff may find it difficult to monitor waiting patients and available doctors simultaneously.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may experience confusion when appointments are not handled according to their arrival order.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appointment records make it difficult to track completed and pending appointments.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 a queue-based system is required to provide systematic, fair, and efficient patient scheduling</a:t>
            </a:r>
            <a:r>
              <a:rPr lang="en-US"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99D76-3B7D-7AD5-E112-446F819D5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12" y="401934"/>
            <a:ext cx="10287000" cy="609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6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09C77-608C-0B06-4DD4-FC939A239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2168" y="1454327"/>
            <a:ext cx="8229600" cy="457757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8026BF-49F7-854E-EED5-B484E4FFE3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2167" y="2086251"/>
            <a:ext cx="10633587" cy="442337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StartRegister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patient details.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Book an appointment and generate a queue number.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the patient to the rear of the queue (Enqueue).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whether a doctor is available.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 doctor is available, select the patient at the front of the queue.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the patient to the available doctor.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the patient from the queue (Dequeue).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 the appointment status.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consultation, mark the appointment as Completed.</a:t>
            </a:r>
          </a:p>
          <a:p>
            <a:pPr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appointment records and generate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reports.Stop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slide1_img0.png">
            <a:extLst>
              <a:ext uri="{FF2B5EF4-FFF2-40B4-BE49-F238E27FC236}">
                <a16:creationId xmlns:a16="http://schemas.microsoft.com/office/drawing/2014/main" id="{86CB7AC7-BB7C-390B-49A6-B360DC0FC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473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246EB-3549-D941-17AC-74BB572B7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5458" y="1303648"/>
            <a:ext cx="8229600" cy="481781"/>
          </a:xfrm>
        </p:spPr>
        <p:txBody>
          <a:bodyPr>
            <a:normAutofit fontScale="90000"/>
          </a:bodyPr>
          <a:lstStyle/>
          <a:p>
            <a:r>
              <a:rPr lang="en-IN" dirty="0"/>
              <a:t>PSEUDOCODE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906D42-428E-8B77-8DC8-A167491A62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9612" y="1839858"/>
            <a:ext cx="8229600" cy="4525963"/>
          </a:xfrm>
        </p:spPr>
        <p:txBody>
          <a:bodyPr>
            <a:noAutofit/>
          </a:bodyPr>
          <a:lstStyle/>
          <a:p>
            <a:r>
              <a:rPr lang="en-US" sz="1200" dirty="0"/>
              <a:t>START</a:t>
            </a:r>
          </a:p>
          <a:p>
            <a:r>
              <a:rPr lang="en-US" sz="1200" dirty="0"/>
              <a:t>Create an empty Queue</a:t>
            </a:r>
          </a:p>
          <a:p>
            <a:r>
              <a:rPr lang="en-US" sz="1200" dirty="0"/>
              <a:t>1. Register Patient</a:t>
            </a:r>
          </a:p>
          <a:p>
            <a:r>
              <a:rPr lang="en-US" sz="1200" dirty="0"/>
              <a:t>   Read patient name and details</a:t>
            </a:r>
          </a:p>
          <a:p>
            <a:r>
              <a:rPr lang="en-US" sz="1200" dirty="0"/>
              <a:t>   Store patient information</a:t>
            </a:r>
          </a:p>
          <a:p>
            <a:r>
              <a:rPr lang="en-US" sz="1200" dirty="0"/>
              <a:t>2. Book Appointment</a:t>
            </a:r>
          </a:p>
          <a:p>
            <a:r>
              <a:rPr lang="en-US" sz="1200" dirty="0"/>
              <a:t>   Add patient to the rear of the Queue</a:t>
            </a:r>
          </a:p>
          <a:p>
            <a:r>
              <a:rPr lang="en-US" sz="1200" dirty="0"/>
              <a:t>3. Process Appointment</a:t>
            </a:r>
          </a:p>
          <a:p>
            <a:r>
              <a:rPr lang="en-US" sz="1200" dirty="0"/>
              <a:t>   IF Queue is not empty THEN</a:t>
            </a:r>
          </a:p>
          <a:p>
            <a:r>
              <a:rPr lang="en-US" sz="1200" dirty="0"/>
              <a:t>       Remove patient from the front</a:t>
            </a:r>
          </a:p>
          <a:p>
            <a:r>
              <a:rPr lang="en-US" sz="1200" dirty="0"/>
              <a:t>       Assign available doctor</a:t>
            </a:r>
          </a:p>
          <a:p>
            <a:r>
              <a:rPr lang="en-US" sz="1200" dirty="0"/>
              <a:t>       Mark appointment as "Assigned"</a:t>
            </a:r>
          </a:p>
          <a:p>
            <a:r>
              <a:rPr lang="en-US" sz="1200" dirty="0"/>
              <a:t>   ELSE</a:t>
            </a:r>
          </a:p>
          <a:p>
            <a:r>
              <a:rPr lang="en-US" sz="1200" dirty="0"/>
              <a:t>       Display "No patients in queue"</a:t>
            </a:r>
          </a:p>
          <a:p>
            <a:r>
              <a:rPr lang="en-US" sz="1200" dirty="0"/>
              <a:t>   END IF</a:t>
            </a:r>
          </a:p>
          <a:p>
            <a:r>
              <a:rPr lang="en-US" sz="1200" dirty="0"/>
              <a:t>4. Complete Appointment</a:t>
            </a:r>
          </a:p>
          <a:p>
            <a:r>
              <a:rPr lang="en-US" sz="1200" dirty="0"/>
              <a:t>   Update appointment status to "Completed"</a:t>
            </a:r>
          </a:p>
          <a:p>
            <a:r>
              <a:rPr lang="en-US" sz="1200" dirty="0"/>
              <a:t>   Record appointment details</a:t>
            </a:r>
          </a:p>
          <a:p>
            <a:r>
              <a:rPr lang="en-US" sz="1200" dirty="0"/>
              <a:t>5. Display Queue</a:t>
            </a:r>
          </a:p>
          <a:p>
            <a:r>
              <a:rPr lang="en-US" sz="1200" dirty="0"/>
              <a:t>   Show all waiting patients in FIFO order</a:t>
            </a:r>
          </a:p>
          <a:p>
            <a:r>
              <a:rPr lang="en-US" sz="1200" dirty="0"/>
              <a:t>STOP</a:t>
            </a:r>
            <a:endParaRPr lang="en-IN" sz="1200" dirty="0"/>
          </a:p>
        </p:txBody>
      </p:sp>
      <p:pic>
        <p:nvPicPr>
          <p:cNvPr id="6" name="Picture 5" descr="slide1_img0.png">
            <a:extLst>
              <a:ext uri="{FF2B5EF4-FFF2-40B4-BE49-F238E27FC236}">
                <a16:creationId xmlns:a16="http://schemas.microsoft.com/office/drawing/2014/main" id="{82FA82C0-3B79-542F-3169-F6D918C9C3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00" y="122651"/>
            <a:ext cx="9354312" cy="10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464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0" y="1604242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1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AND APPOINTMENT BOOKING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08150" y="1963663"/>
            <a:ext cx="7197969" cy="46910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>
                <a:solidFill>
                  <a:srgbClr val="2B2B2B"/>
                </a:solidFill>
                <a:latin typeface="Times New Roman"/>
              </a:rPr>
              <a:t> </a:t>
            </a:r>
            <a:endParaRPr lang="en-IN" sz="2000" dirty="0"/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module collects essential patient information such as </a:t>
            </a:r>
            <a:r>
              <a:rPr lang="en-IN" sz="2000" b="1" dirty="0"/>
              <a:t>Patient ID, Name, Age, Gender, Contact Number, and Appointment Details</a:t>
            </a:r>
            <a:r>
              <a:rPr sz="2000" dirty="0">
                <a:solidFill>
                  <a:srgbClr val="2B2B2B"/>
                </a:solidFill>
                <a:latin typeface="Times New Roman"/>
              </a:rPr>
              <a:t>.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Patients can select an available doctor or department according to their healthcare requirements</a:t>
            </a:r>
            <a:r>
              <a:rPr sz="2000" dirty="0">
                <a:solidFill>
                  <a:srgbClr val="2B2B2B"/>
                </a:solidFill>
                <a:latin typeface="Times New Roman"/>
              </a:rPr>
              <a:t>.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After booking, the system generates a unique </a:t>
            </a:r>
            <a:r>
              <a:rPr lang="en-IN" sz="2000" b="1" dirty="0"/>
              <a:t>appointment or queue number</a:t>
            </a:r>
            <a:r>
              <a:rPr lang="en-IN" sz="2000" dirty="0"/>
              <a:t> for the patient 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The registered patient is added to the waiting queue in the appropriate order</a:t>
            </a:r>
          </a:p>
          <a:p>
            <a:pPr marL="342900" indent="-342900">
              <a:spcBef>
                <a:spcPts val="200"/>
              </a:spcBef>
              <a:spcAft>
                <a:spcPts val="500"/>
              </a:spcAft>
              <a:buFont typeface="Arial" panose="020B0604020202020204" pitchFamily="34" charset="0"/>
              <a:buChar char="•"/>
            </a:pPr>
            <a:r>
              <a:rPr lang="en-IN" sz="2000" dirty="0"/>
              <a:t>This module provides the basic patient and appointment information required for further processing.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0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778C1D-8DBF-9E4E-DE00-A0F0CC76ADE3}"/>
              </a:ext>
            </a:extLst>
          </p:cNvPr>
          <p:cNvSpPr txBox="1"/>
          <p:nvPr/>
        </p:nvSpPr>
        <p:spPr>
          <a:xfrm>
            <a:off x="7972362" y="2490020"/>
            <a:ext cx="326571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MAIN FUNCTIONS : </a:t>
            </a:r>
          </a:p>
          <a:p>
            <a:endParaRPr lang="en-IN" dirty="0"/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Patient Registration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Patient Information Entry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Doctor Selection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Appointment Booking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Queue Number Generation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-&gt;Appointment Confirmation</a:t>
            </a: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0822" y="1453699"/>
            <a:ext cx="11704320" cy="640080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2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QUEUE-BASED PATIENT SCHEDULING AND DOCTOR ASSIGNMENT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84506" y="2093779"/>
            <a:ext cx="7152241" cy="4780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400" dirty="0">
                <a:solidFill>
                  <a:srgbClr val="2B2B2B"/>
                </a:solidFill>
                <a:latin typeface="Times New Roman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module manages patients using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temperature, pressure, current, and vibration.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patients are added to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rear of the 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the Enqueue operation.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 doctor becomes available, the patient at the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 of the queue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selected.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selected patient is assigned to the available doctor and their appointment status is updated.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assignment, the patient is removed from the queue so that the next waiting patient can be processed.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Monitor temperature, pressure, current, and vibration.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E3F6D1-0A47-F974-3AA9-F4067440F57E}"/>
              </a:ext>
            </a:extLst>
          </p:cNvPr>
          <p:cNvSpPr txBox="1"/>
          <p:nvPr/>
        </p:nvSpPr>
        <p:spPr>
          <a:xfrm>
            <a:off x="8470760" y="2371411"/>
            <a:ext cx="309489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Add Patient to Queue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View Waiting Patients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Check Doctor Availability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Assign Patient to Doctor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 Remove Patient from Queue </a:t>
            </a:r>
          </a:p>
          <a:p>
            <a:pPr lvl="0"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-&gt;Update Appointment Status 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24464" y="1608291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400" b="1" u="sng" dirty="0">
                <a:solidFill>
                  <a:srgbClr val="1A3C6E"/>
                </a:solidFill>
                <a:latin typeface="Times New Roman"/>
              </a:rPr>
              <a:t>MODULE 3 – </a:t>
            </a:r>
            <a:r>
              <a:rPr lang="en-IN" sz="2400" b="1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COMPLETION, REPORTING AND STATISTICS</a:t>
            </a:r>
            <a:endParaRPr sz="2400" b="1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6849" y="2388937"/>
            <a:ext cx="7028931" cy="4293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sz="24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consultation, the patient's appointment status is updated to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/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maintains appointment records for future reference and reporting. </a:t>
            </a:r>
            <a:endParaRPr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staff can monitor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waiting, assigned, completed, and cancelled appointments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generate daily appointment summaries and doctor-wise appointment information. </a:t>
            </a:r>
            <a:endParaRPr sz="2000" dirty="0">
              <a:solidFill>
                <a:srgbClr val="2B2B2B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Basic statistics can help identify patient flow and doctor workload.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Display dashboard with KPI cards and equipment overview.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endParaRPr sz="2400" dirty="0">
              <a:solidFill>
                <a:srgbClr val="2B2B2B"/>
              </a:solidFill>
              <a:latin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11CDCD-7848-3FF9-EBDF-32FFC26F1602}"/>
              </a:ext>
            </a:extLst>
          </p:cNvPr>
          <p:cNvSpPr txBox="1"/>
          <p:nvPr/>
        </p:nvSpPr>
        <p:spPr>
          <a:xfrm>
            <a:off x="8309987" y="2870692"/>
            <a:ext cx="3347008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FUNCTIONS</a:t>
            </a:r>
          </a:p>
          <a:p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>
              <a:lnSpc>
                <a:spcPct val="150000"/>
              </a:lnSpc>
            </a:pPr>
            <a:r>
              <a:rPr lang="en-IN" dirty="0"/>
              <a:t>-&gt; Complete Appointment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Update Patient Status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Maintain Appointment History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Generate Reports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Calculate Statistics </a:t>
            </a:r>
          </a:p>
          <a:p>
            <a:pPr lvl="0">
              <a:lnSpc>
                <a:spcPct val="150000"/>
              </a:lnSpc>
            </a:pPr>
            <a:r>
              <a:rPr lang="en-IN" dirty="0"/>
              <a:t>-&gt; Display Daily Summary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A0ADBE-DD15-C1EA-1F45-5B17F2EA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79612" y="149429"/>
            <a:ext cx="8229600" cy="11430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AND CODE SNIPPETS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12C69-8A9D-5F84-620A-7BCEDFA660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47" y="1292429"/>
            <a:ext cx="4967172" cy="522050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85FD591-786E-33B0-B0E2-44AAEE41D0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4658" y="1374365"/>
            <a:ext cx="5160643" cy="5056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79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7F1883D-E203-2A64-0E3E-1A0175054634}"/>
              </a:ext>
            </a:extLst>
          </p:cNvPr>
          <p:cNvSpPr txBox="1"/>
          <p:nvPr/>
        </p:nvSpPr>
        <p:spPr>
          <a:xfrm>
            <a:off x="4365524" y="217466"/>
            <a:ext cx="52012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1AB413-54B5-DA49-2236-B4D2ACB5E8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179" y="1324773"/>
            <a:ext cx="3432860" cy="483022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F7FCFD-98EE-7946-028F-2301942A5B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1941" y="1324774"/>
            <a:ext cx="5677692" cy="231316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760D7CC-78E9-29B9-DCEB-BDF678AF77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1941" y="3739883"/>
            <a:ext cx="5677692" cy="2438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0540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83AF1-36ED-EA66-5ADA-3627060B8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056" y="1347488"/>
            <a:ext cx="8229600" cy="424580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AND DISCUSSIONS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BC07BE-BB0F-A641-6A67-C45260F45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489" y="1971423"/>
            <a:ext cx="9611033" cy="4525963"/>
          </a:xfrm>
        </p:spPr>
        <p:txBody>
          <a:bodyPr>
            <a:normAutofit fontScale="47500" lnSpcReduction="20000"/>
          </a:bodyPr>
          <a:lstStyle/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manages patients using a 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 data structure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processed according to the 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FIFO (First In, First Out)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principle.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registration and appointment booking are organized systematically. </a:t>
            </a:r>
          </a:p>
          <a:p>
            <a:pPr lvl="0" algn="just">
              <a:lnSpc>
                <a:spcPct val="170000"/>
              </a:lnSpc>
            </a:pPr>
            <a:r>
              <a:rPr lang="en-IN" sz="4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queue helps maintain the correct order of patients waiting for consultation.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can be assigned to patients based on queue order and availability.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status can be tracked as 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Waiting, Assigned, Completed, or Cancelled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reduces confusion and manual effort in appointment management. </a:t>
            </a:r>
          </a:p>
          <a:p>
            <a:pPr lvl="0" algn="just">
              <a:lnSpc>
                <a:spcPct val="170000"/>
              </a:lnSpc>
            </a:pP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 project demonstrates how a </a:t>
            </a:r>
            <a:r>
              <a:rPr lang="en-IN" sz="3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Queue</a:t>
            </a:r>
            <a:r>
              <a:rPr lang="en-IN" sz="3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applied to a real-world hospital appointment system.</a:t>
            </a:r>
          </a:p>
          <a:p>
            <a:endParaRPr lang="en-IN" dirty="0"/>
          </a:p>
        </p:txBody>
      </p:sp>
      <p:pic>
        <p:nvPicPr>
          <p:cNvPr id="6" name="Picture 5" descr="slide1_img0.png">
            <a:extLst>
              <a:ext uri="{FF2B5EF4-FFF2-40B4-BE49-F238E27FC236}">
                <a16:creationId xmlns:a16="http://schemas.microsoft.com/office/drawing/2014/main" id="{EE030AC3-E440-B8D3-1141-12CE2F1DB0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700" y="122651"/>
            <a:ext cx="9354312" cy="10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0417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-145714" y="1472214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87344" y="2022551"/>
            <a:ext cx="11312013" cy="4734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2400" dirty="0">
                <a:solidFill>
                  <a:srgbClr val="2B2B2B"/>
                </a:solidFill>
                <a:latin typeface="Times New Roman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an efficient method for hospital appointment management.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uses the Queue data structure based on the FIFO principle.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Patients are served fairly in their order of arrival.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Enqueue and Dequeue operations manage patient appointments effectively.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Doctors can be assigned systematically based on queue order and availability.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helps reduce waiting confusion and improve patient flow.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completion and basic reports and statistics can be maintained.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a real-world application of Queue data structures.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provides a simple, organized, and reliable appointment scheduling solution. </a:t>
            </a:r>
          </a:p>
          <a:p>
            <a:pPr>
              <a:spcBef>
                <a:spcPts val="200"/>
              </a:spcBef>
              <a:spcAft>
                <a:spcPts val="500"/>
              </a:spcAft>
            </a:pPr>
            <a:r>
              <a:rPr sz="2400" dirty="0">
                <a:solidFill>
                  <a:srgbClr val="2B2B2B"/>
                </a:solidFill>
                <a:latin typeface="Times New Roman"/>
              </a:rPr>
              <a:t>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2252" y="1606591"/>
            <a:ext cx="1170432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2800" b="1" u="sng" dirty="0">
                <a:solidFill>
                  <a:srgbClr val="1A3C6E"/>
                </a:solidFill>
                <a:latin typeface="Times New Roman"/>
              </a:rP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2482" y="2395424"/>
            <a:ext cx="10160262" cy="4217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</a:pPr>
            <a:r>
              <a:rPr sz="2000" dirty="0">
                <a:solidFill>
                  <a:srgbClr val="2B2B2B"/>
                </a:solidFill>
                <a:latin typeface="Times New Roman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appointment booking can be added.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doctors and departments can be handled using separate queues.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Queue can be introduced for emergency patients.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queue status can show the patient's position and estimated waiting time.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 history can be stored and accessed.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SMS/notification system can inform patients about their appointment.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Reports and statistics can be improved using graphs and charts. </a:t>
            </a:r>
          </a:p>
          <a:p>
            <a:pPr lvl="0">
              <a:lnSpc>
                <a:spcPct val="150000"/>
              </a:lnSpc>
            </a:pPr>
            <a:r>
              <a:rPr lang="en-IN"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can later be connected to a hospital management system. </a:t>
            </a:r>
          </a:p>
          <a:p>
            <a:pPr>
              <a:lnSpc>
                <a:spcPct val="150000"/>
              </a:lnSpc>
              <a:spcBef>
                <a:spcPts val="200"/>
              </a:spcBef>
              <a:spcAft>
                <a:spcPts val="500"/>
              </a:spcAft>
            </a:pPr>
            <a:r>
              <a:rPr sz="2000" dirty="0">
                <a:solidFill>
                  <a:srgbClr val="2B2B2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6B90D-849A-6872-ED80-55B18CE6D9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7320" y="1352918"/>
            <a:ext cx="8229600" cy="563461"/>
          </a:xfrm>
        </p:spPr>
        <p:txBody>
          <a:bodyPr>
            <a:normAutofit fontScale="9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33AA1-2BE5-211D-05E9-0D5B2262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682" y="1989137"/>
            <a:ext cx="10672917" cy="4525963"/>
          </a:xfrm>
        </p:spPr>
        <p:txBody>
          <a:bodyPr>
            <a:normAutofit fontScale="25000" lnSpcReduction="20000"/>
          </a:bodyPr>
          <a:lstStyle/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Bailey, N. T. J. (1952).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study of queues and appointment systems in hospital out-patient departments, with special reference to waiting-times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the Royal Statistical Society: Series B (Methodological), 14(2), 185–199. </a:t>
            </a:r>
          </a:p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Green, L. V., &amp; Savin, S. (2008).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Reducing delays for medical appointments: A queueing approach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Operations Research, 56(6), 1526–1538. </a:t>
            </a:r>
          </a:p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Vuyst, S., Bruneel, H., &amp;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Fiems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D. (2014).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Computationally efficient evaluation of appointment schedules in health care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European Journal of Operational Research, 237(3), 1142–1154. </a:t>
            </a:r>
          </a:p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Ala, A., &amp; Chen, F. (2022).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Appointment scheduling problem in complexity systems of the healthcare services: A comprehensive review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Journal of Healthcare Engineering. </a:t>
            </a:r>
          </a:p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Safdar, K. A., </a:t>
            </a:r>
            <a:r>
              <a:rPr lang="en-IN" sz="6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Emrouznejad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A., &amp; Dey, P. K. (2020).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optimized queue management system to improve patient flow in the absence of appointment system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International Journal of Health Care Quality Assurance. </a:t>
            </a:r>
          </a:p>
          <a:p>
            <a:pPr lvl="0" algn="just">
              <a:lnSpc>
                <a:spcPct val="170000"/>
              </a:lnSpc>
            </a:pP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Hassin, R., &amp; Mendel, S. (2008). </a:t>
            </a:r>
            <a:r>
              <a:rPr lang="en-IN" sz="6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Scheduling arrivals to queues: A single-server model with no-shows</a:t>
            </a:r>
            <a:r>
              <a:rPr lang="en-IN" sz="6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Management Science, 54(3), 565–572</a:t>
            </a:r>
          </a:p>
          <a:p>
            <a:endParaRPr lang="en-IN" dirty="0"/>
          </a:p>
        </p:txBody>
      </p:sp>
      <p:pic>
        <p:nvPicPr>
          <p:cNvPr id="6" name="Picture 5" descr="slide1_img0.png">
            <a:extLst>
              <a:ext uri="{FF2B5EF4-FFF2-40B4-BE49-F238E27FC236}">
                <a16:creationId xmlns:a16="http://schemas.microsoft.com/office/drawing/2014/main" id="{9196162B-6319-763D-15D1-D07858E7DD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04667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265176"/>
            <a:ext cx="9354312" cy="10149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4417" y="2743200"/>
            <a:ext cx="394011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 dirty="0">
                <a:solidFill>
                  <a:srgbClr val="1A3C6E"/>
                </a:solidFill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1516</Words>
  <Application>Microsoft Office PowerPoint</Application>
  <PresentationFormat>Custom</PresentationFormat>
  <Paragraphs>159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Times New Roman</vt:lpstr>
      <vt:lpstr>Office Theme</vt:lpstr>
      <vt:lpstr>PowerPoint Presentation</vt:lpstr>
      <vt:lpstr>ABSTRACT</vt:lpstr>
      <vt:lpstr>PowerPoint Presentation</vt:lpstr>
      <vt:lpstr>PowerPoint Presentation</vt:lpstr>
      <vt:lpstr>PowerPoint Presentation</vt:lpstr>
      <vt:lpstr>PowerPoint Presentation</vt:lpstr>
      <vt:lpstr>ALGORITHM</vt:lpstr>
      <vt:lpstr>PSEUDOCODE</vt:lpstr>
      <vt:lpstr>PowerPoint Presentation</vt:lpstr>
      <vt:lpstr>PowerPoint Presentation</vt:lpstr>
      <vt:lpstr>PowerPoint Presentation</vt:lpstr>
      <vt:lpstr>INPUT AND CODE SNIPPETS</vt:lpstr>
      <vt:lpstr>PowerPoint Presentation</vt:lpstr>
      <vt:lpstr>RESULTS AND DISCUSSIONS</vt:lpstr>
      <vt:lpstr>PowerPoint Presentation</vt:lpstr>
      <vt:lpstr>PowerPoint Presentation</vt:lpstr>
      <vt:lpstr>REFERENCES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Dhivyabharathi V</dc:creator>
  <cp:keywords/>
  <dc:description>generated using python-pptx</dc:description>
  <cp:lastModifiedBy>Dhivyabharathi V</cp:lastModifiedBy>
  <cp:revision>6</cp:revision>
  <dcterms:created xsi:type="dcterms:W3CDTF">2013-01-27T09:14:16Z</dcterms:created>
  <dcterms:modified xsi:type="dcterms:W3CDTF">2026-09-03T04:41:21Z</dcterms:modified>
  <cp:category/>
</cp:coreProperties>
</file>